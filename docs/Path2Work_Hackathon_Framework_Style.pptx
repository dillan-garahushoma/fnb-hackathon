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Path2Work | Mentor Review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Path2Work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04088" y="1572768"/>
            <a:ext cx="2148840" cy="256032"/>
          </a:xfrm>
          <a:prstGeom prst="rect">
            <a:avLst/>
          </a:prstGeom>
          <a:solidFill>
            <a:srgbClr val="E56B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BEFORE HIRE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04088" y="20848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Early-career IT readiness &amp; verified talent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04088" y="3063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Helping IT students prove they can do the job before someone gives them their first job.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078992"/>
            <a:ext cx="1143000" cy="987552"/>
          </a:xfrm>
          <a:prstGeom prst="hexagon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1920240"/>
            <a:ext cx="1143000" cy="987552"/>
          </a:xfrm>
          <a:prstGeom prst="hexagon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83880" y="2944368"/>
            <a:ext cx="1143000" cy="987552"/>
          </a:xfrm>
          <a:prstGeom prst="hexagon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112" y="14264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87968" y="22677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3291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49834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evidence. Prove readiness. Reach the right employer.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crystallisation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“youth unemployment” to a specific, solvable entry-level IT problem.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15910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82A30"/>
                </a:solidFill>
              </a:rPr>
              <a:t>Broad symptoms are hard to design around. The root problem must explain the user, cause and consequence.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05840" y="2258568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4605">
            <a:solidFill>
              <a:srgbClr val="E85D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468880"/>
            <a:ext cx="1005840" cy="256032"/>
          </a:xfrm>
          <a:prstGeom prst="round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9304" y="2519172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515"/>
                </a:solidFill>
              </a:rPr>
              <a:t>“IT graduates struggle to find opportunities.”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971800"/>
            <a:ext cx="822960" cy="0"/>
          </a:xfrm>
          <a:prstGeom prst="line">
            <a:avLst/>
          </a:prstGeom>
          <a:noFill/>
          <a:ln w="17780">
            <a:solidFill>
              <a:srgbClr val="E56B2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40680" y="2084832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7568" y="2313432"/>
            <a:ext cx="1325880" cy="256032"/>
          </a:xfrm>
          <a:prstGeom prst="round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2363724"/>
            <a:ext cx="12161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PROBLEM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50992" y="2761488"/>
            <a:ext cx="46177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Final-year IT students and recent graduates often have qualifications and projects, but employers lack a trusted, role-specific signal that shows whether they can actually perform entry-level work.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663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515"/>
                </a:solidFill>
              </a:rPr>
              <a:t>Our design opportunity: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4416552"/>
            <a:ext cx="7818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4645152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Create verified proof of capability before formal recruitment begins — then turn that proof into a clearer readiness signal for both the student and the employer.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Feedback → pivot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used the panel and mentor feedback to narrow the product instead of adding more features.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938528"/>
            <a:ext cx="868680" cy="256032"/>
          </a:xfrm>
          <a:prstGeom prst="round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7864" y="198882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515"/>
                </a:solidFill>
              </a:rPr>
              <a:t>Generic youth employment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8448" y="3063240"/>
            <a:ext cx="3017520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282A30"/>
                </a:solidFill>
              </a:rPr>
              <a:t>• Candidate profiles</a:t>
            </a:r>
            <a:endParaRPr lang="en-US" sz="1400" dirty="0"/>
          </a:p>
          <a:p>
            <a:r>
              <a:rPr lang="en-US" sz="1400" dirty="0">
                <a:solidFill>
                  <a:srgbClr val="282A30"/>
                </a:solidFill>
              </a:rPr>
              <a:t>• Readiness assessment</a:t>
            </a:r>
            <a:endParaRPr lang="en-US" sz="1400" dirty="0"/>
          </a:p>
          <a:p>
            <a:r>
              <a:rPr lang="en-US" sz="1400" dirty="0">
                <a:solidFill>
                  <a:srgbClr val="282A30"/>
                </a:solidFill>
              </a:rPr>
              <a:t>• Job / internship matching</a:t>
            </a:r>
            <a:endParaRPr lang="en-US" sz="1400" dirty="0"/>
          </a:p>
          <a:p>
            <a:r>
              <a:rPr lang="en-US" sz="1400" dirty="0">
                <a:solidFill>
                  <a:srgbClr val="282A30"/>
                </a:solidFill>
              </a:rPr>
              <a:t>• CV &amp; career guidance</a:t>
            </a:r>
            <a:endParaRPr lang="en-US" sz="1400" dirty="0"/>
          </a:p>
          <a:p>
            <a:r>
              <a:rPr lang="en-US" sz="1400" dirty="0">
                <a:solidFill>
                  <a:srgbClr val="282A30"/>
                </a:solidFill>
              </a:rPr>
              <a:t>• AI assistant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45720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6B2F"/>
                </a:solidFill>
              </a:rPr>
              <a:t>Panel signal: CAN USE ✓   CAN BUY ✕   WOULD PAY: R0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56632" y="3218688"/>
            <a:ext cx="731520" cy="0"/>
          </a:xfrm>
          <a:prstGeom prst="line">
            <a:avLst/>
          </a:prstGeom>
          <a:noFill/>
          <a:ln w="17780">
            <a:solidFill>
              <a:srgbClr val="E56B2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1572768"/>
            <a:ext cx="4709160" cy="3493008"/>
          </a:xfrm>
          <a:prstGeom prst="roundRect">
            <a:avLst>
              <a:gd name="adj" fmla="val 2094"/>
            </a:avLst>
          </a:prstGeom>
          <a:solidFill>
            <a:srgbClr val="FFFDF8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847088"/>
            <a:ext cx="804672" cy="25603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89738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36208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515"/>
                </a:solidFill>
              </a:rPr>
              <a:t>Verified early-career IT readiness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19088" y="2907792"/>
            <a:ext cx="3822192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82A30"/>
                </a:solidFill>
              </a:rPr>
              <a:t>• Specific niche: IT students + recent graduates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82A30"/>
                </a:solidFill>
              </a:rPr>
              <a:t>• Role-specific WorkProof challenges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82A30"/>
                </a:solidFill>
              </a:rPr>
              <a:t>• Skills Passport with trust levels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82A30"/>
                </a:solidFill>
              </a:rPr>
              <a:t>• Build → Explain → Adapt verification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82A30"/>
                </a:solidFill>
              </a:rPr>
              <a:t>• Employer-ready pre-qualified talent pool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828800" y="54406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4605">
            <a:solidFill>
              <a:srgbClr val="6C4C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55961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515"/>
                </a:solidFill>
              </a:rPr>
              <a:t>Key shift: from “help me find a job” → “help me prove I can do the work.”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Start narrow: the target market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focuses on South African IT students and recent graduates — not every unemployed young person.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DA0"/>
                </a:solidFill>
              </a:rPr>
              <a:t>USER STAGES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4297680" cy="841248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4605">
            <a:solidFill>
              <a:srgbClr val="6C4C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</a:rPr>
              <a:t>1st-year IT student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1488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82A30"/>
                </a:solidFill>
              </a:rPr>
              <a:t>Build foundations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2468880"/>
            <a:ext cx="777240" cy="256032"/>
          </a:xfrm>
          <a:prstGeom prst="round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15384" y="2519172"/>
            <a:ext cx="667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pipeline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4297680" cy="841248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</a:rPr>
              <a:t>Final-year IT student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2918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82A30"/>
                </a:solidFill>
              </a:rPr>
              <a:t>Prove job readiness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3611880"/>
            <a:ext cx="777240" cy="256032"/>
          </a:xfrm>
          <a:prstGeom prst="round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5384" y="3662172"/>
            <a:ext cx="667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MVP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868680" y="4297680"/>
            <a:ext cx="4297680" cy="841248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</a:rPr>
              <a:t>Recent IT 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44348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82A30"/>
                </a:solidFill>
              </a:rPr>
              <a:t>Convert proof into interviews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4754880"/>
            <a:ext cx="777240" cy="25603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4805172"/>
            <a:ext cx="667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MVP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571500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DA0"/>
                </a:solidFill>
              </a:rPr>
              <a:t>MARKET SIGNAL — youth IT roles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20299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82A30"/>
                </a:solidFill>
              </a:rPr>
              <a:t>Software development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90688" y="2048256"/>
            <a:ext cx="2468880" cy="164592"/>
          </a:xfrm>
          <a:prstGeom prst="rect">
            <a:avLst/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90688" y="2048256"/>
            <a:ext cx="2283714" cy="164592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20253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1515"/>
                </a:solidFill>
              </a:rPr>
              <a:t>37%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0" y="26151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82A30"/>
                </a:solidFill>
              </a:rPr>
              <a:t>Systems / network admin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90688" y="2633472"/>
            <a:ext cx="2468880" cy="164592"/>
          </a:xfrm>
          <a:prstGeom prst="rect">
            <a:avLst/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90688" y="2633472"/>
            <a:ext cx="1604772" cy="1645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78440" y="26106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1515"/>
                </a:solidFill>
              </a:rPr>
              <a:t>26%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15000" y="3200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82A30"/>
                </a:solidFill>
              </a:rPr>
              <a:t>Data analysis / warehousing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90688" y="3218688"/>
            <a:ext cx="2468880" cy="164592"/>
          </a:xfrm>
          <a:prstGeom prst="rect">
            <a:avLst/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90688" y="3218688"/>
            <a:ext cx="740664" cy="164592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78440" y="31958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1515"/>
                </a:solidFill>
              </a:rPr>
              <a:t>12%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15000" y="37856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82A30"/>
                </a:solidFill>
              </a:rPr>
              <a:t>Business analysis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90688" y="3803904"/>
            <a:ext cx="2468880" cy="164592"/>
          </a:xfrm>
          <a:prstGeom prst="rect">
            <a:avLst/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3803904"/>
            <a:ext cx="678942" cy="164592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78440" y="37810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1515"/>
                </a:solidFill>
              </a:rPr>
              <a:t>11%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15000" y="43708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82A30"/>
                </a:solidFill>
              </a:rPr>
              <a:t>IT project admin / management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90688" y="4389120"/>
            <a:ext cx="2468880" cy="164592"/>
          </a:xfrm>
          <a:prstGeom prst="rect">
            <a:avLst/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90688" y="4389120"/>
            <a:ext cx="432054" cy="164592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78440" y="43662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1515"/>
                </a:solidFill>
              </a:rPr>
              <a:t>7%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0" y="5166360"/>
            <a:ext cx="4892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4605">
            <a:solidFill>
              <a:srgbClr val="D9A6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5340096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515"/>
                </a:solidFill>
              </a:rPr>
              <a:t>MVP pathways: Junior Software Developer • Junior Data Analyst • IT Support / Cloud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" y="61081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Pnet Job Market Trends Report, May 2025 — youth IT job roles in South Africa.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Compete on proof — not on job listings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need to beat LinkedIn, Indeed or OfferZen at what they already do well.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2468880" cy="3429000"/>
          </a:xfrm>
          <a:prstGeom prst="roundRect">
            <a:avLst>
              <a:gd name="adj" fmla="val 2963"/>
            </a:avLst>
          </a:prstGeom>
          <a:solidFill>
            <a:srgbClr val="FFFDF8"/>
          </a:solidFill>
          <a:ln w="14605">
            <a:solidFill>
              <a:srgbClr val="2C7D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93392"/>
            <a:ext cx="1234440" cy="256032"/>
          </a:xfrm>
          <a:prstGeom prst="round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043684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Professional identity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832" y="3127248"/>
            <a:ext cx="20482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82A30"/>
                </a:solidFill>
              </a:rPr>
              <a:t>Profiles, networks, career history and recruiter discovery.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4133088"/>
            <a:ext cx="201168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4370832"/>
            <a:ext cx="20482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Path2Work can create verified evidence that a candidate later shares there.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0360" y="1783080"/>
            <a:ext cx="2468880" cy="3429000"/>
          </a:xfrm>
          <a:prstGeom prst="roundRect">
            <a:avLst>
              <a:gd name="adj" fmla="val 2963"/>
            </a:avLst>
          </a:prstGeom>
          <a:solidFill>
            <a:srgbClr val="FFFDF8"/>
          </a:solidFill>
          <a:ln w="14605">
            <a:solidFill>
              <a:srgbClr val="D9A6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1993392"/>
            <a:ext cx="1234440" cy="256032"/>
          </a:xfrm>
          <a:prstGeom prst="roundRect">
            <a:avLst/>
          </a:prstGeom>
          <a:solidFill>
            <a:srgbClr val="D9A62E"/>
          </a:solidFill>
          <a:ln w="12700">
            <a:solidFill>
              <a:srgbClr val="D9A6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2043684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INDEED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306324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Broad job discovery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90672" y="3127248"/>
            <a:ext cx="20482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82A30"/>
                </a:solidFill>
              </a:rPr>
              <a:t>High-volume vacancy search and application workflows.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0" y="4133088"/>
            <a:ext cx="201168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4370832"/>
            <a:ext cx="20482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Path2Work prepares the candidate before application.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783080"/>
            <a:ext cx="2468880" cy="3429000"/>
          </a:xfrm>
          <a:prstGeom prst="roundRect">
            <a:avLst>
              <a:gd name="adj" fmla="val 2963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1993392"/>
            <a:ext cx="1234440" cy="256032"/>
          </a:xfrm>
          <a:prstGeom prst="round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2043684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OFFERZEN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52120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Curated tech hiring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39512" y="3127248"/>
            <a:ext cx="20482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82A30"/>
                </a:solidFill>
              </a:rPr>
              <a:t>Candidate curation, matching and tech recruitment marketplace.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57800" y="4133088"/>
            <a:ext cx="201168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4370832"/>
            <a:ext cx="20482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Marketplace employers still own their technical/background checks.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78040" y="178308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F7FFFC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1993392"/>
            <a:ext cx="1234440" cy="25603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15784" y="2043684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PATH2WORK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7360920" y="25603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1515"/>
                </a:solidFill>
              </a:rPr>
              <a:t>Proof before hire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388352" y="3127248"/>
            <a:ext cx="37398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82A30"/>
                </a:solidFill>
              </a:rPr>
              <a:t>Role-specific WorkProof + readiness + verified evidence for students with little formal experience.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06640" y="4133088"/>
            <a:ext cx="370332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4370832"/>
            <a:ext cx="37398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998B"/>
                </a:solidFill>
              </a:rPr>
              <a:t>We become the pre-employment readiness layer before the employer’s own process.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40280" y="5559552"/>
            <a:ext cx="754380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4605">
            <a:solidFill>
              <a:srgbClr val="6C4C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50592" y="56692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515"/>
                </a:solidFill>
              </a:rPr>
              <a:t>Positioning: LinkedIn records your career. OfferZen helps move a tech career. Path2Work helps prove you are ready to start one.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61081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OfferZen Docs (2025–2026): Marketplace candidates are curated; employers remain responsible for technical assessments and background checks.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The unique value proposition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is not the feature list. It is the better outcome for the student and the employer.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609344"/>
            <a:ext cx="1920240" cy="512064"/>
          </a:xfrm>
          <a:prstGeom prst="roundRect">
            <a:avLst>
              <a:gd name="adj" fmla="val 14286"/>
            </a:avLst>
          </a:prstGeom>
          <a:solidFill>
            <a:srgbClr val="FFFDF8"/>
          </a:solidFill>
          <a:ln w="14605">
            <a:solidFill>
              <a:srgbClr val="D9A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78308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For IT students &amp; grads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34640" y="1865376"/>
            <a:ext cx="438912" cy="0"/>
          </a:xfrm>
          <a:prstGeom prst="line">
            <a:avLst/>
          </a:prstGeom>
          <a:noFill/>
          <a:ln w="17780">
            <a:solidFill>
              <a:srgbClr val="E56B2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37560" y="1609344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FFDF8"/>
          </a:solidFill>
          <a:ln w="14605">
            <a:solidFill>
              <a:srgbClr val="E85D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7830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who lack trusted job proof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14416" y="1865376"/>
            <a:ext cx="438912" cy="0"/>
          </a:xfrm>
          <a:prstGeom prst="line">
            <a:avLst/>
          </a:prstGeom>
          <a:noFill/>
          <a:ln w="17780">
            <a:solidFill>
              <a:srgbClr val="E56B2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26480" y="1609344"/>
            <a:ext cx="2468880" cy="512064"/>
          </a:xfrm>
          <a:prstGeom prst="roundRect">
            <a:avLst>
              <a:gd name="adj" fmla="val 14286"/>
            </a:avLst>
          </a:prstGeom>
          <a:solidFill>
            <a:srgbClr val="FFFDF8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8308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Path2Work builds verified evidence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41080" y="1865376"/>
            <a:ext cx="429768" cy="0"/>
          </a:xfrm>
          <a:prstGeom prst="line">
            <a:avLst/>
          </a:prstGeom>
          <a:noFill/>
          <a:ln w="17780">
            <a:solidFill>
              <a:srgbClr val="E56B2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0" y="1609344"/>
            <a:ext cx="2011680" cy="512064"/>
          </a:xfrm>
          <a:prstGeom prst="roundRect">
            <a:avLst>
              <a:gd name="adj" fmla="val 14286"/>
            </a:avLst>
          </a:prstGeom>
          <a:solidFill>
            <a:srgbClr val="FFFDF8"/>
          </a:solidFill>
          <a:ln w="14605">
            <a:solidFill>
              <a:srgbClr val="6C4C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08592" y="178308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before formal vetting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54480" y="251460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“A CV says what you know. Path2Work shows what you can do.”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960120" y="3703320"/>
            <a:ext cx="502920" cy="502920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3133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370832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role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Data Analyst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508760" y="3950208"/>
            <a:ext cx="1527048" cy="0"/>
          </a:xfrm>
          <a:prstGeom prst="line">
            <a:avLst/>
          </a:prstGeom>
          <a:noFill/>
          <a:ln w="17780">
            <a:solidFill>
              <a:srgbClr val="CFC8B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108960" y="3703320"/>
            <a:ext cx="502920" cy="502920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83133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97480" y="4370832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WorkProof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4709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Realistic role task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657600" y="3950208"/>
            <a:ext cx="1527048" cy="0"/>
          </a:xfrm>
          <a:prstGeom prst="line">
            <a:avLst/>
          </a:prstGeom>
          <a:noFill/>
          <a:ln w="17780">
            <a:solidFill>
              <a:srgbClr val="CFC8BC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257800" y="370332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83133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4370832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understanding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4709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• Explain • Adapt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806440" y="3950208"/>
            <a:ext cx="1527048" cy="0"/>
          </a:xfrm>
          <a:prstGeom prst="line">
            <a:avLst/>
          </a:prstGeom>
          <a:noFill/>
          <a:ln w="17780">
            <a:solidFill>
              <a:srgbClr val="CFC8BC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06640" y="370332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83133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95160" y="4370832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 Skills Passport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4709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trust level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7955280" y="3950208"/>
            <a:ext cx="1527048" cy="0"/>
          </a:xfrm>
          <a:prstGeom prst="line">
            <a:avLst/>
          </a:prstGeom>
          <a:noFill/>
          <a:ln w="17780">
            <a:solidFill>
              <a:srgbClr val="CFC8BC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55480" y="3703320"/>
            <a:ext cx="502920" cy="502920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55480" y="383133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0" y="4370832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to employer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52560" y="4709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Role-fit signal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Trust layer: filter fraud without pretending fraud disappears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Path2Work claims “verified capability”, every badge must explain what was actually verified.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</a:rPr>
              <a:t>EVIDENCE TRUST LEVELS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32688" y="1965960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665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08760" y="20025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SELF-DECLARED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0" y="1984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Candidate claims the skill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32688" y="2679192"/>
            <a:ext cx="384048" cy="384048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77977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08760" y="27157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EVIDENCE ATTACHED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Project / repository / certificate linked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2688" y="3392424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4930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08760" y="34290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SOURCE VERIFIED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34107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Ownership or institution source checked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2688" y="4105656"/>
            <a:ext cx="384048" cy="3840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2062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08760" y="41422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PATH2WORK ASSESSED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4123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Controlled WorkProof evaluated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2688" y="4818888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9194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08760" y="48554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EMPLOYER VERIFIED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48371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Employer-sponsored challenge / review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1783080"/>
            <a:ext cx="4846320" cy="3474720"/>
          </a:xfrm>
          <a:prstGeom prst="roundRect">
            <a:avLst>
              <a:gd name="adj" fmla="val 2105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2057400"/>
            <a:ext cx="2011680" cy="256032"/>
          </a:xfrm>
          <a:prstGeom prst="round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1384" y="2107692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OF UNDERSTANDING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537960" y="2743200"/>
            <a:ext cx="502920" cy="502920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88036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69480" y="278892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</a:rPr>
              <a:t>BUILD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2770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82A30"/>
                </a:solidFill>
              </a:rPr>
              <a:t>Can the candidate complete the task?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3493008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630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69480" y="35387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</a:rPr>
              <a:t>EXPLAIN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82A30"/>
                </a:solidFill>
              </a:rPr>
              <a:t>Can they explain their choices?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37960" y="4242816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37997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69480" y="42885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</a:rPr>
              <a:t>ADAPT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2104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82A30"/>
                </a:solidFill>
              </a:rPr>
              <a:t>Can they modify it when requirements change?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20240" y="5559552"/>
            <a:ext cx="80467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39696" y="5669280"/>
            <a:ext cx="7607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515"/>
                </a:solidFill>
              </a:rPr>
              <a:t>Trust principle: verify the evidence and the candidate’s understanding — not just what they typed into a profile.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Fit into company vetting — do not replace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employer keeps its ATS, assessment and interview process. Path2Work improves who reaches that process.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C5A"/>
                </a:solidFill>
              </a:rPr>
              <a:t>Illustrative employer funnel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4605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9689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500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24712" y="2971800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515"/>
                </a:solidFill>
              </a:rPr>
              <a:t>Applicants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2926080"/>
            <a:ext cx="566928" cy="0"/>
          </a:xfrm>
          <a:prstGeom prst="line">
            <a:avLst/>
          </a:prstGeom>
          <a:noFill/>
          <a:ln w="17780">
            <a:solidFill>
              <a:srgbClr val="C9C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54680" y="23774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4605">
            <a:solidFill>
              <a:srgbClr val="2C7D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59689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DA0"/>
                </a:solidFill>
              </a:rPr>
              <a:t>220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27832" y="2971800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515"/>
                </a:solidFill>
              </a:rPr>
              <a:t>IT students / grads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2926080"/>
            <a:ext cx="612648" cy="0"/>
          </a:xfrm>
          <a:prstGeom prst="line">
            <a:avLst/>
          </a:prstGeom>
          <a:noFill/>
          <a:ln w="17780">
            <a:solidFill>
              <a:srgbClr val="C9C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23774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59689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6B2F"/>
                </a:solidFill>
              </a:rPr>
              <a:t>95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76672" y="2971800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515"/>
                </a:solidFill>
              </a:rPr>
              <a:t>WorkProof completed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2926080"/>
            <a:ext cx="658368" cy="0"/>
          </a:xfrm>
          <a:prstGeom prst="line">
            <a:avLst/>
          </a:prstGeom>
          <a:noFill/>
          <a:ln w="17780">
            <a:solidFill>
              <a:srgbClr val="C9C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0" y="23774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6FFFB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59689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998B"/>
                </a:solidFill>
              </a:rPr>
              <a:t>60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71232" y="2971800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515"/>
                </a:solidFill>
              </a:rPr>
              <a:t>Pre-qualified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61120" y="2926080"/>
            <a:ext cx="612648" cy="0"/>
          </a:xfrm>
          <a:prstGeom prst="line">
            <a:avLst/>
          </a:prstGeom>
          <a:noFill/>
          <a:ln w="17780">
            <a:solidFill>
              <a:srgbClr val="C9C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46920" y="237744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4605">
            <a:solidFill>
              <a:srgbClr val="5B8C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25968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5A"/>
                </a:solidFill>
              </a:rPr>
              <a:t>Company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20072" y="297180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515"/>
                </a:solidFill>
              </a:rPr>
              <a:t>ATS + vetting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97280" y="43434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3312" y="4572000"/>
            <a:ext cx="1234440" cy="25603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4622292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PATH2WORK DOES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53312" y="4965192"/>
            <a:ext cx="2606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82A30"/>
                </a:solidFill>
              </a:rPr>
              <a:t>• Verify baseline capability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82A30"/>
                </a:solidFill>
              </a:rPr>
              <a:t>• Explain readiness gaps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82A30"/>
                </a:solidFill>
              </a:rPr>
              <a:t>• Rank against company criteria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526280" y="43434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4605">
            <a:solidFill>
              <a:srgbClr val="5B8C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2312" y="4572000"/>
            <a:ext cx="1417320" cy="256032"/>
          </a:xfrm>
          <a:prstGeom prst="round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4622292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STILL DOES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4754880" y="4965192"/>
            <a:ext cx="2606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82A30"/>
                </a:solidFill>
              </a:rPr>
              <a:t>• Identity / background checks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82A30"/>
                </a:solidFill>
              </a:rPr>
              <a:t>• Internal technical assessment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82A30"/>
                </a:solidFill>
              </a:rPr>
              <a:t>• Interview + final hiring decision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7955280" y="43434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11312" y="4572000"/>
            <a:ext cx="1463040" cy="256032"/>
          </a:xfrm>
          <a:prstGeom prst="round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6176" y="4622292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EMPLOYERS CARE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211312" y="4965192"/>
            <a:ext cx="2606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282A30"/>
                </a:solidFill>
              </a:rPr>
              <a:t>Spend scarce screening time on candidates who have already demonstrated the basics.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4069080" y="57881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Illustrative numbers — to be validated with employer partners.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Business model hypothesis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student should not be the payer. The organisations receiving hiring and talent-development value should pay.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4605">
            <a:solidFill>
              <a:srgbClr val="6C4C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2048256"/>
            <a:ext cx="1078992" cy="256032"/>
          </a:xfrm>
          <a:prstGeom prst="round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98548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USES?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978408" y="2633472"/>
            <a:ext cx="20574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515"/>
                </a:solidFill>
              </a:rPr>
              <a:t>IT students &amp; recent graduates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78408" y="325526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Free core access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18288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4605">
            <a:solidFill>
              <a:srgbClr val="5B8C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85616" y="2048256"/>
            <a:ext cx="1078992" cy="256032"/>
          </a:xfrm>
          <a:prstGeom prst="round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098548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PAYS?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767328" y="2633472"/>
            <a:ext cx="20574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515"/>
                </a:solidFill>
              </a:rPr>
              <a:t>Employers first; institutions later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67328" y="325526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B2B / B2B2C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74536" y="2048256"/>
            <a:ext cx="1078992" cy="256032"/>
          </a:xfrm>
          <a:prstGeom prst="round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098548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PAY?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6556248" y="2633472"/>
            <a:ext cx="20574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515"/>
                </a:solidFill>
              </a:rPr>
              <a:t>Reduce screening noise + build qualified early-talent pipeline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56248" y="325526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Time + signal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0" y="18288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63456" y="2048256"/>
            <a:ext cx="1078992" cy="25603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2098548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SELL?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9345168" y="2633472"/>
            <a:ext cx="20574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515"/>
                </a:solidFill>
              </a:rPr>
              <a:t>Qualified shortlist • sponsored WorkProof • talent pipeline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45168" y="325526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Employer products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C5A"/>
                </a:solidFill>
              </a:rPr>
              <a:t>Potential employer offers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5840" y="4663440"/>
            <a:ext cx="164592" cy="164592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46451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1515"/>
                </a:solidFill>
              </a:rPr>
              <a:t>Sponsored WorkProof campaign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703320" y="4645152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82A30"/>
                </a:solidFill>
              </a:rPr>
              <a:t>Company-defined challenge → qualified candidate pool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1005840" y="5047488"/>
            <a:ext cx="164592" cy="164592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5029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1515"/>
                </a:solidFill>
              </a:rPr>
              <a:t>Qualified shortlist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703320" y="5029200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82A30"/>
                </a:solidFill>
              </a:rPr>
              <a:t>Candidates already meeting baseline criteria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1005840" y="5431536"/>
            <a:ext cx="164592" cy="164592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98448" y="54132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1515"/>
                </a:solidFill>
              </a:rPr>
              <a:t>Talent pipeline subscription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703320" y="5413248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82A30"/>
                </a:solidFill>
              </a:rPr>
              <a:t>Ongoing access to verified early-career IT talent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1005840" y="5815584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98448" y="5797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1515"/>
                </a:solidFill>
              </a:rPr>
              <a:t>Institution analytics — later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3703320" y="5797296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82A30"/>
                </a:solidFill>
              </a:rPr>
              <a:t>Readiness / skills-gap insights for cohorts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8183880" y="46634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4605">
            <a:solidFill>
              <a:srgbClr val="D9A6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94192" y="48463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A62E"/>
                </a:solidFill>
              </a:rPr>
              <a:t>Important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94192" y="5166360"/>
            <a:ext cx="20574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515"/>
                </a:solidFill>
              </a:rPr>
              <a:t>Revenue model is a hypothesis. We still need employer willingness-to-pay validation.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Hackathon MVP: smallest proof of value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build a marketplace. Prove one complete role-specific journey.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4605">
            <a:solidFill>
              <a:srgbClr val="E85D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212848"/>
            <a:ext cx="502920" cy="256032"/>
          </a:xfrm>
          <a:prstGeom prst="round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3624" y="2263140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26243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Select target role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79192" y="2514600"/>
            <a:ext cx="292608" cy="0"/>
          </a:xfrm>
          <a:prstGeom prst="line">
            <a:avLst/>
          </a:prstGeom>
          <a:noFill/>
          <a:ln w="17780">
            <a:solidFill>
              <a:srgbClr val="C9C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20116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212848"/>
            <a:ext cx="502920" cy="256032"/>
          </a:xfrm>
          <a:prstGeom prst="round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2263140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26243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Complete one WorkProof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73752" y="2514600"/>
            <a:ext cx="292608" cy="0"/>
          </a:xfrm>
          <a:prstGeom prst="line">
            <a:avLst/>
          </a:prstGeom>
          <a:noFill/>
          <a:ln w="17780">
            <a:solidFill>
              <a:srgbClr val="C9C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20116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4605">
            <a:solidFill>
              <a:srgbClr val="6C4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2212848"/>
            <a:ext cx="502920" cy="256032"/>
          </a:xfrm>
          <a:prstGeom prst="round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2744" y="2263140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94960" y="26243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Build • Explain • Adapt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68312" y="2514600"/>
            <a:ext cx="292608" cy="0"/>
          </a:xfrm>
          <a:prstGeom prst="line">
            <a:avLst/>
          </a:prstGeom>
          <a:noFill/>
          <a:ln w="17780">
            <a:solidFill>
              <a:srgbClr val="C9C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52360" y="20116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6FFFB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212848"/>
            <a:ext cx="502920" cy="25603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7304" y="2263140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589520" y="26243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Receive verified Skills Passport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62872" y="2514600"/>
            <a:ext cx="292608" cy="0"/>
          </a:xfrm>
          <a:prstGeom prst="line">
            <a:avLst/>
          </a:prstGeom>
          <a:noFill/>
          <a:ln w="17780">
            <a:solidFill>
              <a:srgbClr val="C9C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46920" y="20116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4605">
            <a:solidFill>
              <a:srgbClr val="5B8C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2212848"/>
            <a:ext cx="502920" cy="256032"/>
          </a:xfrm>
          <a:prstGeom prst="round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41864" y="2263140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784080" y="26243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</a:rPr>
              <a:t>Employer sees role-fit signal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51560" y="4160520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43708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6B2F"/>
                </a:solidFill>
              </a:rPr>
              <a:t>MUST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34440" y="4663440"/>
            <a:ext cx="2743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82A30"/>
                </a:solidFill>
              </a:rPr>
              <a:t>Role profile • WorkProof • evidence score • Skills Passport • employer view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754880" y="4160520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3708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</a:rPr>
              <a:t>SHOULD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4663440"/>
            <a:ext cx="2743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82A30"/>
                </a:solidFill>
              </a:rPr>
              <a:t>Readiness feedback • next-best-action • basic fraud checks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458200" y="4160520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14605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41080" y="43708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LATER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41080" y="4663440"/>
            <a:ext cx="2743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82A30"/>
                </a:solidFill>
              </a:rPr>
              <a:t>Real client marketplace • payments • full ATS integration • many job families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1965960" y="5577840"/>
            <a:ext cx="800100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4605">
            <a:solidFill>
              <a:srgbClr val="6C4C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76272" y="5669280"/>
            <a:ext cx="7571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51515"/>
                </a:solidFill>
              </a:rPr>
              <a:t>Core demo question: “Can this student demonstrate entry-level capability for this specific IT role?”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What we know, assume and need to validate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mentor conversation should attack the risky assumptions — not just praise the idea.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FFFDF8"/>
          </a:solidFill>
          <a:ln w="14605">
            <a:solidFill>
              <a:srgbClr val="1B99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975104"/>
            <a:ext cx="1097280" cy="25603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02539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KNOW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097280" y="2670048"/>
            <a:ext cx="155448" cy="1554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9888" y="2596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The original broad concept was usable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3236976"/>
            <a:ext cx="155448" cy="1554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31638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The payer/value story was weak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803904"/>
            <a:ext cx="155448" cy="1554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IT students need a clearer proof pathway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4370832"/>
            <a:ext cx="155448" cy="1554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88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The challenge explicitly values skills verification + practical experience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41648" y="173736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FFFDF8"/>
          </a:solidFill>
          <a:ln w="14605">
            <a:solidFill>
              <a:srgbClr val="E56B2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975104"/>
            <a:ext cx="1097280" cy="256032"/>
          </a:xfrm>
          <a:prstGeom prst="roundRect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202539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ASSUME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315968" y="2670048"/>
            <a:ext cx="155448" cy="1554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2596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Employers value WorkProof as a pre-screening signal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15968" y="3236976"/>
            <a:ext cx="155448" cy="1554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31638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Build–Explain–Adapt increases trust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15968" y="3803904"/>
            <a:ext cx="155448" cy="1554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3 initial IT pathways are narrow enough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15968" y="4370832"/>
            <a:ext cx="155448" cy="1554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Employers may fund challenges / shortlists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60336" y="173736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FFFDF8"/>
          </a:solidFill>
          <a:ln w="14605">
            <a:solidFill>
              <a:srgbClr val="6C4C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16368" y="1975104"/>
            <a:ext cx="1097280" cy="256032"/>
          </a:xfrm>
          <a:prstGeom prst="round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232" y="202539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NEXT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7534656" y="2670048"/>
            <a:ext cx="155448" cy="1554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7264" y="2596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Which role should launch first?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34656" y="3236976"/>
            <a:ext cx="155448" cy="1554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27264" y="31638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What proof would employers trust?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34656" y="3803904"/>
            <a:ext cx="155448" cy="1554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27264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What fraud controls are essential?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34656" y="4370832"/>
            <a:ext cx="155448" cy="1554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27264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82A30"/>
                </a:solidFill>
              </a:rPr>
              <a:t>Would employers pay per campaign, shortlist or subscription?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17320" y="5422392"/>
            <a:ext cx="88696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605">
            <a:solidFill>
              <a:srgbClr val="2C7D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64208" y="5605272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515"/>
                </a:solidFill>
              </a:rPr>
              <a:t>MENTOR ASK: Help us choose the first role + define the minimum evidence an employer would trust enough to shortlist a candidate.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367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Path2Work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Path2Work — Prove Before Hire</dc:title>
  <dc:subject>FNB AOTY Hackathon 2026 Mentor Presentation</dc:subject>
  <dc:creator>Path2Work Team</dc:creator>
  <cp:lastModifiedBy>Path2Work Team</cp:lastModifiedBy>
  <cp:revision>1</cp:revision>
  <dcterms:created xsi:type="dcterms:W3CDTF">2026-10-25T00:27:27Z</dcterms:created>
  <dcterms:modified xsi:type="dcterms:W3CDTF">2026-10-25T00:27:27Z</dcterms:modified>
</cp:coreProperties>
</file>